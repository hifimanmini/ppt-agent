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91440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GPS 精益管理系统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46304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Microsoft YaHei"/>
                <a:ea typeface="Microsoft YaHei"/>
              </a:rPr>
              <a:t>筑基 →「势起」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2860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D6E4EE"/>
                </a:solidFill>
                <a:latin typeface="Microsoft YaHei"/>
                <a:ea typeface="Microsoft YaHei"/>
              </a:rPr>
              <a:t>2026 下半年精益全域推进方案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10896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C5D4"/>
                </a:solidFill>
                <a:latin typeface="Microsoft YaHei"/>
                <a:ea typeface="Microsoft YaHei"/>
              </a:rPr>
              <a:t>以「453」体系框架启航精益转型
锚定「真善美」价值主张 · 打造第二生产力引擎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0350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7FA0B4"/>
                </a:solidFill>
                <a:latin typeface="Microsoft YaHei"/>
                <a:ea typeface="Microsoft YaHei"/>
              </a:rPr>
              <a:t>汇报对象：向总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0B2A3F"/>
                </a:solidFill>
                <a:latin typeface="Microsoft YaHei"/>
                <a:ea typeface="Microsoft YaHei"/>
              </a:rPr>
              <a:t>当前精益推进现存真实痛点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0584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1234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01 落地不均衡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17373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标杆与常态两极分化：多数产线停在表层 5S，深层次浪费未触及。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51960" y="100584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34840" y="1234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02 改善偏单点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34840" y="17373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对拉晶能耗、切片断线等核心痛点攻坚不足，难拉动良率与成本。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92440" y="100584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75320" y="123444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03 全员氛围不足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75320" y="173736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推进靠管理推动，一线被动执行，自主改善文化未形成。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11480" y="34747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703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04 机制未闭环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42062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与晋升/基地评价挂钩流于形式，缺量化指标与奖惩。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51960" y="34747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434840" y="37033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05 信息化缺失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434840" y="4206240"/>
            <a:ext cx="329184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改善难沉淀、难复制，难以从运动式走向常态化。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092440" y="3474720"/>
            <a:ext cx="3657600" cy="219456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3749039"/>
            <a:ext cx="3200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07A2F"/>
                </a:solidFill>
                <a:latin typeface="Microsoft YaHei"/>
                <a:ea typeface="Microsoft YaHei"/>
              </a:rPr>
              <a:t>关键判断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4206240"/>
            <a:ext cx="32004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FFFFFF"/>
                </a:solidFill>
                <a:latin typeface="Microsoft YaHei"/>
                <a:ea typeface="Microsoft YaHei"/>
              </a:rPr>
              <a:t>需以闭环机制与数据沉淀，破除形式主义，从表层整改走向深层次攻坚与价值创造。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A3F"/>
                </a:solidFill>
                <a:latin typeface="Microsoft YaHei"/>
                <a:ea typeface="Microsoft YaHei"/>
              </a:rPr>
              <a:t>筑基→势起｜GPS 精益 453 总框架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68680"/>
            <a:ext cx="11247120" cy="82296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00584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2026 为关键推进年：以精益为「第二生产力」，用四级架构×五大体系×三阶段路径践真善美。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20116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9436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决策层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7A2F"/>
                </a:solidFill>
                <a:latin typeface="Microsoft YaHei"/>
                <a:ea typeface="Microsoft YaHei"/>
              </a:rPr>
              <a:t>战略引领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383280" y="20116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2044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推进层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044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7A2F"/>
                </a:solidFill>
                <a:latin typeface="Microsoft YaHei"/>
                <a:ea typeface="Microsoft YaHei"/>
              </a:rPr>
              <a:t>体系赋能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309360" y="20116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4652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执行层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4652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7A2F"/>
                </a:solidFill>
                <a:latin typeface="Microsoft YaHei"/>
                <a:ea typeface="Microsoft YaHei"/>
              </a:rPr>
              <a:t>攻坚落地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235440" y="2011680"/>
            <a:ext cx="2743200" cy="1280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372600" y="22402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落地层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372600" y="269748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E07A2F"/>
                </a:solidFill>
                <a:latin typeface="Microsoft YaHei"/>
                <a:ea typeface="Microsoft YaHei"/>
              </a:rPr>
              <a:t>现场改善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65760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38404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01 对标研学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743200" y="365760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743200" y="38404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02 标杆复制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0" y="365760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029200" y="38404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03 人才育成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315200" y="365760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0" y="38404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04 考核管控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601200" y="3657600"/>
            <a:ext cx="2148840" cy="731520"/>
          </a:xfrm>
          <a:prstGeom prst="roundRect">
            <a:avLst>
              <a:gd name="adj" fmla="val 8000"/>
            </a:avLst>
          </a:prstGeom>
          <a:solidFill>
            <a:srgbClr val="F3E6D8"/>
          </a:solidFill>
          <a:ln w="12700">
            <a:solidFill>
              <a:srgbClr val="E07A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01200" y="3840480"/>
            <a:ext cx="2148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05 价值生产力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57200" y="4754880"/>
            <a:ext cx="36576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983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7–8月 筑基巩固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40080" y="5440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补短板·定标准·全员培训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297680" y="4754880"/>
            <a:ext cx="36576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4480560" y="4983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9–10月 攻坚突破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80560" y="5440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专项课题·核心瓶颈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4754880"/>
            <a:ext cx="3657600" cy="14630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498348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11–12月 价值兑现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5440680"/>
            <a:ext cx="3291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A6A7A"/>
                </a:solidFill>
                <a:latin typeface="Microsoft YaHei"/>
                <a:ea typeface="Microsoft YaHei"/>
              </a:rPr>
              <a:t>固化成果·效益验证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A3F"/>
                </a:solidFill>
                <a:latin typeface="Microsoft YaHei"/>
                <a:ea typeface="Microsoft YaHei"/>
              </a:rPr>
              <a:t>四级联动架构｜权责清晰、上下贯通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228600" cy="118872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23444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A3F"/>
                </a:solidFill>
                <a:latin typeface="Microsoft YaHei"/>
                <a:ea typeface="Microsoft YaHei"/>
              </a:rPr>
              <a:t>01 决策层 · 战略引领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45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确立战略、审批重大课题、提供资源与政策支持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331720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200" y="2331720"/>
            <a:ext cx="228600" cy="1188720"/>
          </a:xfrm>
          <a:prstGeom prst="roundRect">
            <a:avLst>
              <a:gd name="adj" fmla="val 8000"/>
            </a:avLst>
          </a:prstGeom>
          <a:solidFill>
            <a:srgbClr val="14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5603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A3F"/>
                </a:solidFill>
                <a:latin typeface="Microsoft YaHei"/>
                <a:ea typeface="Microsoft YaHei"/>
              </a:rPr>
              <a:t>02 推进层 · 体系赋能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29718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体系规划、方法导入、项目督导、人才培养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57600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228600" cy="1188720"/>
          </a:xfrm>
          <a:prstGeom prst="roundRect">
            <a:avLst>
              <a:gd name="adj" fmla="val 8000"/>
            </a:avLst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88620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A3F"/>
                </a:solidFill>
                <a:latin typeface="Microsoft YaHei"/>
                <a:ea typeface="Microsoft YaHei"/>
              </a:rPr>
              <a:t>03 执行层 · 攻坚落地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" y="429768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基地一把手主责，目标分解与资源协同，确保出成果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4983479"/>
            <a:ext cx="11247120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4983479"/>
            <a:ext cx="228600" cy="1188720"/>
          </a:xfrm>
          <a:prstGeom prst="roundRect">
            <a:avLst>
              <a:gd name="adj" fmla="val 8000"/>
            </a:avLst>
          </a:prstGeom>
          <a:solidFill>
            <a:srgbClr val="2E8B5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21207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0B2A3F"/>
                </a:solidFill>
                <a:latin typeface="Microsoft YaHei"/>
                <a:ea typeface="Microsoft YaHei"/>
              </a:rPr>
              <a:t>04 落地层 · 现场改善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562355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班组严守 SOP，工位浪费识别与全员改善提案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0B2A3F"/>
                </a:solidFill>
                <a:latin typeface="Microsoft YaHei"/>
                <a:ea typeface="Microsoft YaHei"/>
              </a:rPr>
              <a:t>五大体系｜系统起势的主骨架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228600" cy="9144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18872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01 对标研学：被动学习 → 对标赶超；三维对标 + 月度整改闭环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57200" y="196596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57200" y="1965960"/>
            <a:ext cx="228600" cy="9144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40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02 标杆复制：单点标杆 → 全域标准化；SOP 拆解复制与标杆升级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301752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57200" y="3017520"/>
            <a:ext cx="228600" cy="9144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9184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03 人才育成：基础普及 → 精英赋能；三级梯队 + 利益深度绑定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4069079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57200" y="4069079"/>
            <a:ext cx="228600" cy="9144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343399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04 考核管控：柔性要求 → 刚性闭环；指标入考核 + 红黑榜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57200" y="5120640"/>
            <a:ext cx="1124712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57200" y="5120640"/>
            <a:ext cx="228600" cy="91440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39496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0B2A3F"/>
                </a:solidFill>
                <a:latin typeface="Microsoft YaHei"/>
                <a:ea typeface="Microsoft YaHei"/>
              </a:rPr>
              <a:t>05 价值生产力：以精益锚定核心课题，突破生产瓶颈、助力价值增长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3F"/>
                </a:solidFill>
                <a:latin typeface="Microsoft YaHei"/>
                <a:ea typeface="Microsoft YaHei"/>
              </a:rPr>
              <a:t>五大体系详解｜01–04 管理支撑系统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9144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914400"/>
            <a:ext cx="5577840" cy="6400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01 对标研学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9202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三维对标找差距；能耗/良率/OEE 月度差距清单与整改计划。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09360" y="9144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6309360" y="914400"/>
            <a:ext cx="5577840" cy="6400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537960" y="10972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02 标杆复制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标杆经验沉淀 SOP 跨线复制；从 5S 升级到提质降本零缺陷。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7200" y="36576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7200" y="3657600"/>
            <a:ext cx="5577840" cy="6400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8580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03 人才育成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" y="4663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骨干 + 内训师 + 专班三级梯队；认证与晋升/激励挂钩。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3657600"/>
            <a:ext cx="5577840" cy="24688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309360" y="3657600"/>
            <a:ext cx="5577840" cy="6400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384048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04 考核管控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37960" y="4663440"/>
            <a:ext cx="50292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精益指标入正式考核；负责人主责，红黑榜公示闭环。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3F"/>
                </a:solidFill>
                <a:latin typeface="Microsoft YaHei"/>
                <a:ea typeface="Microsoft YaHei"/>
              </a:rPr>
              <a:t>05 价值生产力体系｜五大核心课题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822960"/>
            <a:ext cx="3657600" cy="50292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E07A2F"/>
                </a:solidFill>
                <a:latin typeface="Microsoft YaHei"/>
                <a:ea typeface="Microsoft YaHei"/>
              </a:rPr>
              <a:t>第二生产力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3108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  <a:latin typeface="Microsoft YaHei"/>
                <a:ea typeface="Microsoft YaHei"/>
              </a:rPr>
              <a:t>管理 × 产能
双增长引擎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291840"/>
            <a:ext cx="3108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C5D4"/>
                </a:solidFill>
                <a:latin typeface="Microsoft YaHei"/>
                <a:ea typeface="Microsoft YaHei"/>
              </a:rPr>
              <a:t>转化为产能增量、良率增量、效益增量，支撑规模化高质量发展。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89120" y="82296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663440" y="107899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01 拉晶硅损优化 — 厘清浪费点，提升硅料利用率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89120" y="182880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663440" y="208483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02 切片损耗管控 — 攻克断线碎片，提升优品率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283464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63440" y="309067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03 组件质量攻坚 — 隐裂/虚焊/层压缺陷与可靠性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89120" y="384048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63440" y="409651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04 设备效能跃升 — TPM + OEE，保障连续稳定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4846320"/>
            <a:ext cx="7315200" cy="868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5102352"/>
            <a:ext cx="6858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0B2A3F"/>
                </a:solidFill>
                <a:latin typeface="Microsoft YaHei"/>
                <a:ea typeface="Microsoft YaHei"/>
              </a:rPr>
              <a:t>05 精益数字化+ — 贯通 DMS / TPMS / QMS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>
                <a:solidFill>
                  <a:srgbClr val="0B2A3F"/>
                </a:solidFill>
                <a:latin typeface="Microsoft YaHei"/>
                <a:ea typeface="Microsoft YaHei"/>
              </a:rPr>
              <a:t>三个阶段｜层层递进的实施路径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914400"/>
            <a:ext cx="370332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9144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01  7–8月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标杆认证·统一标准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23774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认证复制、方法论手册、组件 DMS/Andon 闭环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502920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3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目标：统一执行标准，消除基础差距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297680" y="914400"/>
            <a:ext cx="370332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297680" y="9144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E07A2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0560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02  9–10月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专项攻坚·文化激活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80560" y="23774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拉晶专项、组件改善周、黑带赋能与绩效挂钩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480560" y="502920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3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17720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目标：攻克瓶颈，激发全员参与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83879" y="914400"/>
            <a:ext cx="3703320" cy="53035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8183879" y="914400"/>
            <a:ext cx="3703320" cy="118872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66759" y="1097280"/>
            <a:ext cx="3291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03  11–12月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150876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成果固化·价值兑现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377440"/>
            <a:ext cx="329184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5A6A7A"/>
                </a:solidFill>
                <a:latin typeface="Microsoft YaHei"/>
                <a:ea typeface="Microsoft YaHei"/>
              </a:rPr>
              <a:t>人才认证、案例库、量化经济价值闭环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366759" y="5029200"/>
            <a:ext cx="3337560" cy="914400"/>
          </a:xfrm>
          <a:prstGeom prst="roundRect">
            <a:avLst>
              <a:gd name="adj" fmla="val 8000"/>
            </a:avLst>
          </a:prstGeom>
          <a:solidFill>
            <a:srgbClr val="F3E6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503919" y="5212080"/>
            <a:ext cx="31089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>
                <a:solidFill>
                  <a:srgbClr val="0B2A3F"/>
                </a:solidFill>
                <a:latin typeface="Microsoft YaHei"/>
                <a:ea typeface="Microsoft YaHei"/>
              </a:rPr>
              <a:t>目标：长效机制，价值清晰可见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286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0B2A3F"/>
                </a:solidFill>
                <a:latin typeface="Microsoft YaHei"/>
                <a:ea typeface="Microsoft YaHei"/>
              </a:rPr>
              <a:t>精益全域落地｜以「真善美」锚定改善底层逻辑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57200" y="100584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57200" y="1005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5800" y="1325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守「真」· 可信改善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4688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Microsoft YaHei"/>
                <a:ea typeface="Microsoft YaHei"/>
              </a:rPr>
              <a:t>全流程追溯、SPC 底线、根因分析
拒绝假改善，让改善可见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43400" y="100584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343400" y="1005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0D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325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行「善」· 有效改善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24688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Microsoft YaHei"/>
                <a:ea typeface="Microsoft YaHei"/>
              </a:rPr>
              <a:t>TPM/SMED 夯基、痛点攻坚、一地一策
系统突破，让改善有价值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0" y="1005840"/>
            <a:ext cx="3703320" cy="5029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2700">
            <a:solidFill>
              <a:srgbClr val="D5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0" y="1005840"/>
            <a:ext cx="3703320" cy="109728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58200" y="132588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求「美」· 长效改善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468880"/>
            <a:ext cx="320040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5A6A7A"/>
                </a:solidFill>
                <a:latin typeface="Microsoft YaHei"/>
                <a:ea typeface="Microsoft YaHei"/>
              </a:rPr>
              <a:t>6S 目视化、防错/EL、零缺陷
成果固化，让改善成日常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0" y="0"/>
            <a:ext cx="12191695" cy="6858000"/>
          </a:xfrm>
          <a:prstGeom prst="roundRect">
            <a:avLst>
              <a:gd name="adj" fmla="val 8000"/>
            </a:avLst>
          </a:prstGeom>
          <a:solidFill>
            <a:srgbClr val="0B2A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11887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E07A2F"/>
                </a:solidFill>
                <a:latin typeface="Microsoft YaHei"/>
                <a:ea typeface="Microsoft YaHei"/>
              </a:rPr>
              <a:t>下一步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7373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Microsoft YaHei"/>
                <a:ea typeface="Microsoft YaHei"/>
              </a:rPr>
              <a:t>从「势起」到「势成」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5603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A8C5D4"/>
                </a:solidFill>
                <a:latin typeface="Microsoft YaHei"/>
                <a:ea typeface="Microsoft YaHei"/>
              </a:rPr>
              <a:t>以四级联动贯通组织，以五大体系固化机制，以三阶段兑现价值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47472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4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统一标准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C5D4"/>
                </a:solidFill>
                <a:latin typeface="Microsoft YaHei"/>
                <a:ea typeface="Microsoft YaHei"/>
              </a:rPr>
              <a:t>工具、模板、考核一把尺子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347472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4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63440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攻坚课题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0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C5D4"/>
                </a:solidFill>
                <a:latin typeface="Microsoft YaHei"/>
                <a:ea typeface="Microsoft YaHei"/>
              </a:rPr>
              <a:t>硅损·切片·组件·OEE·数字化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138159" y="3474720"/>
            <a:ext cx="3474720" cy="1463040"/>
          </a:xfrm>
          <a:prstGeom prst="roundRect">
            <a:avLst>
              <a:gd name="adj" fmla="val 8000"/>
            </a:avLst>
          </a:prstGeom>
          <a:solidFill>
            <a:srgbClr val="143D5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12479" y="3749039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长效闭环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412479" y="4251960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A8C5D4"/>
                </a:solidFill>
                <a:latin typeface="Microsoft YaHei"/>
                <a:ea typeface="Microsoft YaHei"/>
              </a:rPr>
              <a:t>真数据·善攻坚·美现场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0080" y="5669280"/>
            <a:ext cx="9144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>
                <a:solidFill>
                  <a:srgbClr val="FFFFFF"/>
                </a:solidFill>
                <a:latin typeface="Microsoft YaHei"/>
                <a:ea typeface="Microsoft YaHei"/>
              </a:rPr>
              <a:t>请向总审阅指导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