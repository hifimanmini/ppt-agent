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精益工具方法论系统化整合｜四级联动落地体系（含广州组件基地）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9601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C5D4"/>
                </a:solidFill>
                <a:latin typeface="Microsoft YaHei"/>
                <a:ea typeface="Microsoft YaHei"/>
              </a:rPr>
              <a:t>适配硅片 / 组件全产线  ·  统一术语 · 统一推行流程 · 统一考核标准  ·  真善美价值主张贯穿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024128"/>
            <a:ext cx="1167688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024128"/>
            <a:ext cx="109728" cy="5303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78992"/>
            <a:ext cx="14630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8A7A"/>
                </a:solidFill>
                <a:latin typeface="Microsoft YaHei"/>
                <a:ea typeface="Microsoft YaHei"/>
              </a:rPr>
              <a:t>核心目标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80160"/>
            <a:ext cx="1965960" cy="219456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1965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A3F"/>
                </a:solidFill>
                <a:latin typeface="Microsoft YaHei"/>
                <a:ea typeface="Microsoft YaHei"/>
              </a:rPr>
              <a:t>提质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280160"/>
            <a:ext cx="1965960" cy="219456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280160"/>
            <a:ext cx="1965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A3F"/>
                </a:solidFill>
                <a:latin typeface="Microsoft YaHei"/>
                <a:ea typeface="Microsoft YaHei"/>
              </a:rPr>
              <a:t>降损耗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280160"/>
            <a:ext cx="1965960" cy="219456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1965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A3F"/>
                </a:solidFill>
                <a:latin typeface="Microsoft YaHei"/>
                <a:ea typeface="Microsoft YaHei"/>
              </a:rPr>
              <a:t>提设备效率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280160"/>
            <a:ext cx="1965960" cy="219456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280160"/>
            <a:ext cx="1965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A3F"/>
                </a:solidFill>
                <a:latin typeface="Microsoft YaHei"/>
                <a:ea typeface="Microsoft YaHei"/>
              </a:rPr>
              <a:t>均衡多基地产能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280160"/>
            <a:ext cx="1965960" cy="219456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280160"/>
            <a:ext cx="1965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A3F"/>
                </a:solidFill>
                <a:latin typeface="Microsoft YaHei"/>
                <a:ea typeface="Microsoft YaHei"/>
              </a:rPr>
              <a:t>低碳降耗保交付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166420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3F"/>
                </a:solidFill>
                <a:latin typeface="Microsoft YaHei"/>
                <a:ea typeface="Microsoft YaHei"/>
              </a:rPr>
              <a:t>精益工具五大集成模块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" y="1938528"/>
            <a:ext cx="22128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1938528"/>
            <a:ext cx="2212848" cy="347472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1984248"/>
            <a:ext cx="20665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① 价值流诊断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2377440"/>
            <a:ext cx="20299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VSM价值流图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八大浪费识别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产销协同均衡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938528"/>
            <a:ext cx="22128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78608" y="1938528"/>
            <a:ext cx="2212848" cy="347472"/>
          </a:xfrm>
          <a:prstGeom prst="rect">
            <a:avLst/>
          </a:prstGeom>
          <a:solidFill>
            <a:srgbClr val="0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84248"/>
            <a:ext cx="20665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② 现场精益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0048" y="2377440"/>
            <a:ext cx="20299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6S / 目视化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SMED快速换型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线平衡 · Poka-Yoke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01184" y="1938528"/>
            <a:ext cx="22128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01184" y="1938528"/>
            <a:ext cx="2212848" cy="34747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4336" y="1984248"/>
            <a:ext cx="20665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③ 品质管控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2377440"/>
            <a:ext cx="20299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5Why / 鱼骨图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柏拉图 · SPC · MSA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8D · OCAP闭环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1938528"/>
            <a:ext cx="22128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23760" y="1938528"/>
            <a:ext cx="2212848" cy="347472"/>
          </a:xfrm>
          <a:prstGeom prst="rect">
            <a:avLst/>
          </a:prstGeom>
          <a:solidFill>
            <a:srgbClr val="1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1984248"/>
            <a:ext cx="20665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④ 设备能耗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377440"/>
            <a:ext cx="20299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TPM全员保全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OEE三维拆解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MTTR/MTBF · 能源精益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46336" y="1938528"/>
            <a:ext cx="221284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6336" y="1938528"/>
            <a:ext cx="2212848" cy="34747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1984248"/>
            <a:ext cx="20665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⑤ 长效固化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377440"/>
            <a:ext cx="20299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SOP / 标准工时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全员Kaizen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  <a:ea typeface="Microsoft YaHei"/>
              </a:rPr>
              <a:t>精益数字化看板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" y="37673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3F"/>
                </a:solidFill>
                <a:latin typeface="Microsoft YaHei"/>
                <a:ea typeface="Microsoft YaHei"/>
              </a:rPr>
              <a:t>四级联动推行架构（覆盖广州组件基地）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" y="4041648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6032" y="4041648"/>
            <a:ext cx="2834640" cy="329184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" y="4087368"/>
            <a:ext cx="2688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一级 · 总部精益部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" y="4425696"/>
            <a:ext cx="26883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标准制定 · 跨基地VSM统筹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数字化平台 · 考核指标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1">
                <a:solidFill>
                  <a:srgbClr val="0D8A7A"/>
                </a:solidFill>
                <a:latin typeface="Microsoft YaHei"/>
                <a:ea typeface="Microsoft YaHei"/>
              </a:rPr>
              <a:t>珠海 · 西宁 · 宜宾 · 广州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99816" y="4498848"/>
            <a:ext cx="109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8A7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4041648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4041648"/>
            <a:ext cx="2834640" cy="329184"/>
          </a:xfrm>
          <a:prstGeom prst="rect">
            <a:avLst/>
          </a:prstGeom>
          <a:solidFill>
            <a:srgbClr val="0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73552" y="4087368"/>
            <a:ext cx="2688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二级 · 基地管理部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4425696"/>
            <a:ext cx="26883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基地VSM · TPM/5S专项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成果汇总 · 跨车间协调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1">
                <a:solidFill>
                  <a:srgbClr val="0D8A7A"/>
                </a:solidFill>
                <a:latin typeface="Microsoft YaHei"/>
                <a:ea typeface="Microsoft YaHei"/>
              </a:rPr>
              <a:t>含广州组件基地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44184" y="4498848"/>
            <a:ext cx="109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8A7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4768" y="4041648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44768" y="4041648"/>
            <a:ext cx="2834640" cy="329184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087368"/>
            <a:ext cx="2688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三级 · 车间主任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425696"/>
            <a:ext cx="26883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线平衡 · SMED · 8D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车间OEE与损耗管控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1">
                <a:solidFill>
                  <a:srgbClr val="0D8A7A"/>
                </a:solidFill>
                <a:latin typeface="Microsoft YaHei"/>
                <a:ea typeface="Microsoft YaHei"/>
              </a:rPr>
              <a:t>硅片 / 组件产线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4498848"/>
            <a:ext cx="1097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8A7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89136" y="4041648"/>
            <a:ext cx="2834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89136" y="4041648"/>
            <a:ext cx="2834640" cy="3291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62288" y="4087368"/>
            <a:ext cx="2688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四级 · 班组 / 线长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62288" y="4425696"/>
            <a:ext cx="26883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20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5S目视化 · 工位5Why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2C3E50"/>
                </a:solidFill>
                <a:latin typeface="Microsoft YaHei"/>
                <a:ea typeface="Microsoft YaHei"/>
              </a:rPr>
              <a:t>防错改善 · Kaizen提案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1">
                <a:solidFill>
                  <a:srgbClr val="0D8A7A"/>
                </a:solidFill>
                <a:latin typeface="Microsoft YaHei"/>
                <a:ea typeface="Microsoft YaHei"/>
              </a:rPr>
              <a:t>一线高频落地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" y="5440680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3F"/>
                </a:solidFill>
                <a:latin typeface="Microsoft YaHei"/>
                <a:ea typeface="Microsoft YaHei"/>
              </a:rPr>
              <a:t>统一闭环机制</a:t>
            </a:r>
          </a:p>
        </p:txBody>
      </p:sp>
      <p:sp>
        <p:nvSpPr>
          <p:cNvPr id="63" name="Chevron 62"/>
          <p:cNvSpPr/>
          <p:nvPr/>
        </p:nvSpPr>
        <p:spPr>
          <a:xfrm>
            <a:off x="2148840" y="5458968"/>
            <a:ext cx="1353312" cy="384048"/>
          </a:xfrm>
          <a:prstGeom prst="chevron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现状诊断</a:t>
            </a:r>
          </a:p>
        </p:txBody>
      </p:sp>
      <p:sp>
        <p:nvSpPr>
          <p:cNvPr id="64" name="Chevron 63"/>
          <p:cNvSpPr/>
          <p:nvPr/>
        </p:nvSpPr>
        <p:spPr>
          <a:xfrm>
            <a:off x="3520440" y="5458968"/>
            <a:ext cx="1353312" cy="384048"/>
          </a:xfrm>
          <a:prstGeom prst="chevron">
            <a:avLst/>
          </a:prstGeom>
          <a:solidFill>
            <a:srgbClr val="14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目标拆解</a:t>
            </a:r>
          </a:p>
        </p:txBody>
      </p:sp>
      <p:sp>
        <p:nvSpPr>
          <p:cNvPr id="65" name="Chevron 64"/>
          <p:cNvSpPr/>
          <p:nvPr/>
        </p:nvSpPr>
        <p:spPr>
          <a:xfrm>
            <a:off x="4892040" y="5458968"/>
            <a:ext cx="1353312" cy="384048"/>
          </a:xfrm>
          <a:prstGeom prst="chevron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工具落地</a:t>
            </a:r>
          </a:p>
        </p:txBody>
      </p:sp>
      <p:sp>
        <p:nvSpPr>
          <p:cNvPr id="66" name="Chevron 65"/>
          <p:cNvSpPr/>
          <p:nvPr/>
        </p:nvSpPr>
        <p:spPr>
          <a:xfrm>
            <a:off x="6263640" y="5458968"/>
            <a:ext cx="1353312" cy="384048"/>
          </a:xfrm>
          <a:prstGeom prst="chevron">
            <a:avLst/>
          </a:prstGeom>
          <a:solidFill>
            <a:srgbClr val="14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数据验证</a:t>
            </a:r>
          </a:p>
        </p:txBody>
      </p:sp>
      <p:sp>
        <p:nvSpPr>
          <p:cNvPr id="67" name="Chevron 66"/>
          <p:cNvSpPr/>
          <p:nvPr/>
        </p:nvSpPr>
        <p:spPr>
          <a:xfrm>
            <a:off x="7635240" y="5458968"/>
            <a:ext cx="1353312" cy="384048"/>
          </a:xfrm>
          <a:prstGeom prst="chevron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标准化固化</a:t>
            </a:r>
          </a:p>
        </p:txBody>
      </p:sp>
      <p:sp>
        <p:nvSpPr>
          <p:cNvPr id="68" name="Chevron 67"/>
          <p:cNvSpPr/>
          <p:nvPr/>
        </p:nvSpPr>
        <p:spPr>
          <a:xfrm>
            <a:off x="9006840" y="5458968"/>
            <a:ext cx="1353312" cy="384048"/>
          </a:xfrm>
          <a:prstGeom prst="chevron">
            <a:avLst/>
          </a:prstGeom>
          <a:solidFill>
            <a:srgbClr val="14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跨基地复制</a:t>
            </a:r>
          </a:p>
        </p:txBody>
      </p:sp>
      <p:sp>
        <p:nvSpPr>
          <p:cNvPr id="69" name="Chevron 68"/>
          <p:cNvSpPr/>
          <p:nvPr/>
        </p:nvSpPr>
        <p:spPr>
          <a:xfrm>
            <a:off x="10378440" y="5458968"/>
            <a:ext cx="1353312" cy="384048"/>
          </a:xfrm>
          <a:prstGeom prst="chevron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持续迭代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8840" y="5879592"/>
            <a:ext cx="9601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A7A"/>
                </a:solidFill>
                <a:latin typeface="Microsoft YaHei"/>
                <a:ea typeface="Microsoft YaHei"/>
              </a:rPr>
              <a:t>广州组件成功经验同步至珠海 / 西宁 / 宜宾等基地  ·  指标四级逐级分解  ·  杜绝工具零散、重复落地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C5D4"/>
                </a:solidFill>
                <a:latin typeface="Microsoft YaHei"/>
                <a:ea typeface="Microsoft YaHei"/>
              </a:rPr>
              <a:t>精益五星模型：价值流诊断 → 现场基础管理 → 品质闭环 → 设备能耗优化 → 持续改善长效机制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硅片 · 组件 · 广州基地四级联动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